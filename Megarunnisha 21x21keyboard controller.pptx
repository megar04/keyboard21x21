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Title: 21×21 Keyboard Matrix Controller using Verilog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• A keyboard controller for a 21×21 matrix keypad (441 keys)</a:t>
            </a:r>
          </a:p>
          <a:p>
            <a:pPr>
              <a:defRPr sz="2000"/>
            </a:pPr>
            <a:r>
              <a:t>• Scans rows and columns to detect pressed keys</a:t>
            </a:r>
          </a:p>
          <a:p>
            <a:pPr>
              <a:defRPr sz="2000"/>
            </a:pPr>
            <a:r>
              <a:t>• Uses Verilog HDL for FPGA implementation or simulation</a:t>
            </a:r>
          </a:p>
          <a:p>
            <a:pPr>
              <a:defRPr sz="2000"/>
            </a:pPr>
            <a:r>
              <a:t>• Built by expanding the concept of a 3×3 keypad controller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How a Matrix Keypad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Keys arranged in rows and columns</a:t>
            </a:r>
          </a:p>
          <a:p>
            <a:pPr>
              <a:defRPr sz="2000"/>
            </a:pPr>
            <a:r>
              <a:t>• Columns are inputs with pull‑up resistors (idle HIGH)</a:t>
            </a:r>
          </a:p>
          <a:p>
            <a:pPr>
              <a:defRPr sz="2000"/>
            </a:pPr>
            <a:r>
              <a:t>• Rows are outputs activated one at a time</a:t>
            </a:r>
          </a:p>
          <a:p>
            <a:pPr>
              <a:defRPr sz="2000"/>
            </a:pPr>
            <a:r>
              <a:t>• Pressing a key pulls the corresponding column LOW</a:t>
            </a:r>
          </a:p>
          <a:p>
            <a:pPr>
              <a:defRPr sz="2000"/>
            </a:pPr>
            <a:r>
              <a:t>• Active row + LOW column = key pressed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Scanning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1. All rows are HIGH initially</a:t>
            </a:r>
          </a:p>
          <a:p>
            <a:pPr>
              <a:defRPr sz="2000"/>
            </a:pPr>
            <a:r>
              <a:t>2. One row is pulled LOW</a:t>
            </a:r>
          </a:p>
          <a:p>
            <a:pPr>
              <a:defRPr sz="2000"/>
            </a:pPr>
            <a:r>
              <a:t>3. All columns are read</a:t>
            </a:r>
          </a:p>
          <a:p>
            <a:pPr>
              <a:defRPr sz="2000"/>
            </a:pPr>
            <a:r>
              <a:t>4. If any column reads LOW → key in that row is pressed</a:t>
            </a:r>
          </a:p>
          <a:p>
            <a:pPr>
              <a:defRPr sz="2000"/>
            </a:pPr>
            <a:r>
              <a:t>5. Move to next row and repeat for all 21 rows</a:t>
            </a:r>
          </a:p>
          <a:p>
            <a:pPr>
              <a:defRPr sz="2000"/>
            </a:pPr>
            <a:r>
              <a:t>6. Continuous scanning detects keys in real time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Debouncing Using Counter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• Mechanical switches cause bouncing (unstable LOW/HIGH)</a:t>
            </a:r>
          </a:p>
          <a:p>
            <a:pPr>
              <a:defRPr sz="2000"/>
            </a:pPr>
            <a:r>
              <a:t>• Counter delays row switching to stabilize readings</a:t>
            </a:r>
          </a:p>
          <a:p>
            <a:pPr>
              <a:defRPr sz="2000"/>
            </a:pPr>
            <a:r>
              <a:t>• Prevents false key detection</a:t>
            </a:r>
          </a:p>
          <a:p>
            <a:pPr>
              <a:defRPr sz="2000"/>
            </a:pPr>
            <a:r>
              <a:t>• Ensures clean and reliable key press capture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Below is the 21×21 keyboard matrix image</a:t>
            </a:r>
          </a:p>
        </p:txBody>
      </p:sp>
      <p:pic>
        <p:nvPicPr>
          <p:cNvPr id="4" name="Picture 3" descr="keyboard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828800"/>
            <a:ext cx="4572000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Components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Inputs:</a:t>
            </a:r>
          </a:p>
          <a:p>
            <a:pPr>
              <a:defRPr sz="2000"/>
            </a:pPr>
            <a:r>
              <a:t>• clk</a:t>
            </a:r>
          </a:p>
          <a:p>
            <a:pPr>
              <a:defRPr sz="2000"/>
            </a:pPr>
            <a:r>
              <a:t>• col[20:0]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Outputs:</a:t>
            </a:r>
          </a:p>
          <a:p>
            <a:pPr>
              <a:defRPr sz="2000"/>
            </a:pPr>
            <a:r>
              <a:t>• row[20:0]</a:t>
            </a:r>
          </a:p>
          <a:p>
            <a:pPr>
              <a:defRPr sz="2000"/>
            </a:pPr>
            <a:r>
              <a:t>• key_state[440:0]</a:t>
            </a:r>
          </a:p>
          <a:p>
            <a:pPr>
              <a:defRPr sz="2000"/>
            </a:pPr>
          </a:p>
          <a:p>
            <a:pPr>
              <a:defRPr sz="2000"/>
            </a:pPr>
            <a:r>
              <a:t>Registers:</a:t>
            </a:r>
          </a:p>
          <a:p>
            <a:pPr>
              <a:defRPr sz="2000"/>
            </a:pPr>
            <a:r>
              <a:t>• scan_row – selects which row is active</a:t>
            </a:r>
          </a:p>
          <a:p>
            <a:pPr>
              <a:defRPr sz="2000"/>
            </a:pPr>
            <a:r>
              <a:t>• counter – timing control and debouncing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Verilog Logic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always @(posedge clk):</a:t>
            </a:r>
          </a:p>
          <a:p>
            <a:pPr>
              <a:defRPr sz="2000"/>
            </a:pPr>
            <a:r>
              <a:t>• Increment counter</a:t>
            </a:r>
          </a:p>
          <a:p>
            <a:pPr>
              <a:defRPr sz="2000"/>
            </a:pPr>
            <a:r>
              <a:t>• When counter hits limit → scan next row</a:t>
            </a:r>
          </a:p>
          <a:p>
            <a:pPr>
              <a:defRPr sz="2000"/>
            </a:pPr>
            <a:r>
              <a:t>• case(scan_row) sets active row LOW</a:t>
            </a:r>
          </a:p>
          <a:p>
            <a:pPr>
              <a:defRPr sz="2000"/>
            </a:pPr>
            <a:r>
              <a:t>• case(scan_row) reads column values</a:t>
            </a:r>
          </a:p>
          <a:p>
            <a:pPr>
              <a:defRPr sz="2000"/>
            </a:pPr>
            <a:r>
              <a:t>• Store values in key_state</a:t>
            </a:r>
          </a:p>
          <a:p>
            <a:pPr>
              <a:defRPr sz="2000"/>
            </a:pPr>
            <a:r>
              <a:t>• Repeat for all 21 rows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Full Verilog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module keyboard21x21 (</a:t>
            </a:r>
          </a:p>
          <a:p>
            <a:r>
              <a:rPr sz="1300"/>
              <a:t>input clk,</a:t>
            </a:r>
          </a:p>
          <a:p>
            <a:r>
              <a:rPr sz="1300"/>
              <a:t>input [20:0] col,</a:t>
            </a:r>
          </a:p>
          <a:p>
            <a:r>
              <a:rPr sz="1300"/>
              <a:t>output reg [20:0] row,</a:t>
            </a:r>
          </a:p>
          <a:p>
            <a:r>
              <a:rPr sz="1300"/>
              <a:t>output reg [440:0] key_state</a:t>
            </a:r>
          </a:p>
          <a:p>
            <a:r>
              <a:rPr sz="1300"/>
              <a:t>);</a:t>
            </a:r>
          </a:p>
          <a:p>
            <a:r>
              <a:rPr sz="1300"/>
              <a:t>reg [4:0] scan_row = 0;</a:t>
            </a:r>
          </a:p>
          <a:p>
            <a:r>
              <a:rPr sz="1300"/>
              <a:t>reg [15:0] counter = 0;</a:t>
            </a:r>
          </a:p>
          <a:p>
            <a:r>
              <a:rPr sz="1300"/>
              <a:t>always @(posedge clk) begin</a:t>
            </a:r>
          </a:p>
          <a:p>
            <a:r>
              <a:rPr sz="1300"/>
              <a:t>counter &lt;= counter + 1;</a:t>
            </a:r>
          </a:p>
          <a:p>
            <a:r>
              <a:rPr sz="1300"/>
              <a:t>if (counter == 50000) begin</a:t>
            </a:r>
          </a:p>
          <a:p>
            <a:r>
              <a:rPr sz="1300"/>
              <a:t>counter &lt;= 0;</a:t>
            </a:r>
          </a:p>
          <a:p>
            <a:r>
              <a:rPr sz="1300"/>
              <a:t>row &lt;= 21'b111111111111111111111;</a:t>
            </a:r>
          </a:p>
          <a:p>
            <a:r>
              <a:rPr sz="1300"/>
              <a:t>case (scan_row)</a:t>
            </a:r>
          </a:p>
          <a:p>
            <a:r>
              <a:rPr sz="1300"/>
              <a:t>5'd0: row &lt;= 21'b111111111111111111110;</a:t>
            </a:r>
          </a:p>
          <a:p>
            <a:r>
              <a:rPr sz="1300"/>
              <a:t>5'd1: row &lt;= 21'b111111111111111111101;</a:t>
            </a:r>
          </a:p>
          <a:p>
            <a:r>
              <a:rPr sz="1300"/>
              <a:t>5'd2: row &lt;= 21'b111111111111111111011;</a:t>
            </a:r>
          </a:p>
          <a:p>
            <a:r>
              <a:rPr sz="1300"/>
              <a:t>5'd3: row &lt;= 21'b111111111111111110111;</a:t>
            </a:r>
          </a:p>
          <a:p>
            <a:r>
              <a:rPr sz="1300"/>
              <a:t>5'd4: row &lt;= 21'b111111111111111101111;</a:t>
            </a:r>
          </a:p>
          <a:p>
            <a:r>
              <a:rPr sz="1300"/>
              <a:t>5'd5: row &lt;= 21'b111111111111111011111;</a:t>
            </a:r>
          </a:p>
          <a:p>
            <a:r>
              <a:rPr sz="1300"/>
              <a:t>5'd6: row &lt;= 21'b111111111111110111111;</a:t>
            </a:r>
          </a:p>
          <a:p>
            <a:r>
              <a:rPr sz="1300"/>
              <a:t>5'd7: row &lt;= 21'b111111111111101111111;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Full Verilog 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5'd8: row &lt;= 21'b111111111111011111111;</a:t>
            </a:r>
          </a:p>
          <a:p>
            <a:r>
              <a:rPr sz="1300"/>
              <a:t>5'd9: row &lt;= 21'b111111111110111111111;</a:t>
            </a:r>
          </a:p>
          <a:p>
            <a:r>
              <a:rPr sz="1300"/>
              <a:t>5'd10: row &lt;= 21'b111111111101111111111;</a:t>
            </a:r>
          </a:p>
          <a:p>
            <a:r>
              <a:rPr sz="1300"/>
              <a:t>5'd11: row &lt;= 21'b111111111011111111111;</a:t>
            </a:r>
          </a:p>
          <a:p>
            <a:r>
              <a:rPr sz="1300"/>
              <a:t>5'd12: row &lt;= 21'b111111110111111111111;</a:t>
            </a:r>
          </a:p>
          <a:p>
            <a:r>
              <a:rPr sz="1300"/>
              <a:t>5'd13: row &lt;= 21'b111111101111111111111;</a:t>
            </a:r>
          </a:p>
          <a:p>
            <a:r>
              <a:rPr sz="1300"/>
              <a:t>5'd14: row &lt;= 21'b111111011111111111111;</a:t>
            </a:r>
          </a:p>
          <a:p>
            <a:r>
              <a:rPr sz="1300"/>
              <a:t>5'd15: row &lt;= 21'b111110111111111111111;</a:t>
            </a:r>
          </a:p>
          <a:p>
            <a:r>
              <a:rPr sz="1300"/>
              <a:t>5'd16: row &lt;= 21'b111101111111111111111;</a:t>
            </a:r>
          </a:p>
          <a:p>
            <a:r>
              <a:rPr sz="1300"/>
              <a:t>5'd17: row &lt;= 21'b111011111111111111111;</a:t>
            </a:r>
          </a:p>
          <a:p>
            <a:r>
              <a:rPr sz="1300"/>
              <a:t>5'd18: row &lt;= 21'b110111111111111111111;</a:t>
            </a:r>
          </a:p>
          <a:p>
            <a:r>
              <a:rPr sz="1300"/>
              <a:t>5'd19: row &lt;= 21'b101111111111111111111;</a:t>
            </a:r>
          </a:p>
          <a:p>
            <a:r>
              <a:rPr sz="1300"/>
              <a:t>5'd20: row &lt;= 21'b011111111111111111111;</a:t>
            </a:r>
          </a:p>
          <a:p>
            <a:r>
              <a:rPr sz="1300"/>
              <a:t>endcase</a:t>
            </a:r>
          </a:p>
          <a:p>
            <a:r>
              <a:rPr sz="1300"/>
              <a:t>case (scan_row)</a:t>
            </a:r>
          </a:p>
          <a:p>
            <a:r>
              <a:rPr sz="1300"/>
              <a:t>5'd0: key_state[20:0] &lt;= ~col;</a:t>
            </a:r>
          </a:p>
          <a:p>
            <a:r>
              <a:rPr sz="1300"/>
              <a:t>5'd1: key_state[41:21] &lt;= ~col;</a:t>
            </a:r>
          </a:p>
          <a:p>
            <a:r>
              <a:rPr sz="1300"/>
              <a:t>5'd2: key_state[62:42] &lt;= ~col;</a:t>
            </a:r>
          </a:p>
          <a:p>
            <a:r>
              <a:rPr sz="1300"/>
              <a:t>5'd3: key_state[83:63] &lt;= ~col;</a:t>
            </a:r>
          </a:p>
          <a:p>
            <a:r>
              <a:rPr sz="1300"/>
              <a:t>5'd4: key_state[104:84] &lt;= ~col;</a:t>
            </a:r>
          </a:p>
          <a:p>
            <a:r>
              <a:rPr sz="1300"/>
              <a:t>5'd5: key_state[125:105] &lt;= ~col;</a:t>
            </a:r>
          </a:p>
          <a:p>
            <a:r>
              <a:rPr sz="1300"/>
              <a:t>5'd6: key_state[146:126] &lt;= ~col;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Full Verilog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/>
              <a:t>5'd7: key_state[167:147] &lt;= ~col;</a:t>
            </a:r>
          </a:p>
          <a:p>
            <a:r>
              <a:rPr sz="1300"/>
              <a:t>5'd8: key_state[188:168] &lt;= ~col;</a:t>
            </a:r>
          </a:p>
          <a:p>
            <a:r>
              <a:rPr sz="1300"/>
              <a:t>5'd9: key_state[209:189] &lt;= ~col;</a:t>
            </a:r>
          </a:p>
          <a:p>
            <a:r>
              <a:rPr sz="1300"/>
              <a:t>5'd10: key_state[230:210] &lt;= ~col;</a:t>
            </a:r>
          </a:p>
          <a:p>
            <a:r>
              <a:rPr sz="1300"/>
              <a:t>5'd11: key_state[251:231] &lt;= ~col;</a:t>
            </a:r>
          </a:p>
          <a:p>
            <a:r>
              <a:rPr sz="1300"/>
              <a:t>5'd12: key_state[272:252] &lt;= ~col;</a:t>
            </a:r>
          </a:p>
          <a:p>
            <a:r>
              <a:rPr sz="1300"/>
              <a:t>5'd13: key_state[293:273] &lt;= ~col;</a:t>
            </a:r>
          </a:p>
          <a:p>
            <a:r>
              <a:rPr sz="1300"/>
              <a:t>5'd14: key_state[314:294] &lt;= ~col;</a:t>
            </a:r>
          </a:p>
          <a:p>
            <a:r>
              <a:rPr sz="1300"/>
              <a:t>5'd15: key_state[335:315] &lt;= ~col;</a:t>
            </a:r>
          </a:p>
          <a:p>
            <a:r>
              <a:rPr sz="1300"/>
              <a:t>5'd16: key_state[356:336] &lt;= ~col;</a:t>
            </a:r>
          </a:p>
          <a:p>
            <a:r>
              <a:rPr sz="1300"/>
              <a:t>5'd17: key_state[377:357] &lt;= ~col;</a:t>
            </a:r>
          </a:p>
          <a:p>
            <a:r>
              <a:rPr sz="1300"/>
              <a:t>5'd18: key_state[398:378] &lt;= ~col;</a:t>
            </a:r>
          </a:p>
          <a:p>
            <a:r>
              <a:rPr sz="1300"/>
              <a:t>5'd19: key_state[419:399] &lt;= ~col;</a:t>
            </a:r>
          </a:p>
          <a:p>
            <a:r>
              <a:rPr sz="1300"/>
              <a:t>5'd20: key_state[440:420] &lt;= ~col;</a:t>
            </a:r>
          </a:p>
          <a:p>
            <a:r>
              <a:rPr sz="1300"/>
              <a:t>endcase</a:t>
            </a:r>
          </a:p>
          <a:p>
            <a:r>
              <a:rPr sz="1300"/>
              <a:t>scan_row &lt;= (scan_row == 20) ? 0 : scan_row + 1;</a:t>
            </a:r>
          </a:p>
          <a:p>
            <a:r>
              <a:rPr sz="1300"/>
              <a:t>end</a:t>
            </a:r>
          </a:p>
          <a:p>
            <a:r>
              <a:rPr sz="1300"/>
              <a:t>end</a:t>
            </a:r>
          </a:p>
          <a:p>
            <a:r>
              <a:rPr sz="1300"/>
              <a:t>endmodule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